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7" Type="http://schemas.openxmlformats.org/officeDocument/2006/relationships/slide" Target="slides/slide16.xml" /><Relationship Id="rId18" Type="http://schemas.openxmlformats.org/officeDocument/2006/relationships/slide" Target="slides/slide17.xml" /><Relationship Id="rId19" Type="http://schemas.openxmlformats.org/officeDocument/2006/relationships/slide" Target="slides/slide18.xml" /><Relationship Id="rId20" Type="http://schemas.openxmlformats.org/officeDocument/2006/relationships/slide" Target="slides/slide19.xml" /><Relationship Id="rId21" Type="http://schemas.openxmlformats.org/officeDocument/2006/relationships/slide" Target="slides/slide20.xml" /><Relationship Id="rId22" Type="http://schemas.openxmlformats.org/officeDocument/2006/relationships/slide" Target="slides/slide21.xml" /><Relationship Id="rId23" Type="http://schemas.openxmlformats.org/officeDocument/2006/relationships/slide" Target="slides/slide22.xml" /><Relationship Id="rId24" Type="http://schemas.openxmlformats.org/officeDocument/2006/relationships/slide" Target="slides/slide23.xml" /><Relationship Id="rId26" Type="http://schemas.openxmlformats.org/officeDocument/2006/relationships/viewProps" Target="viewProps.xml" /><Relationship Id="rId25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28" Type="http://schemas.openxmlformats.org/officeDocument/2006/relationships/tableStyles" Target="tableStyles.xml" /><Relationship Id="rId27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Smart Book System — 團隊匯報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粵語版本 | 20 頁幻燈片 | Team ERB-Team-A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第 1 頁：封面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Smart Book System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全棧圖書館管理平台</a:t>
            </a:r>
          </a:p>
          <a:p>
            <a:pPr lvl="0" indent="0" marL="0">
              <a:buNone/>
            </a:pPr>
            <a:r>
              <a:rPr b="1"/>
              <a:t>Team ERB-Team-A</a:t>
            </a:r>
            <a:r>
              <a:rPr/>
              <a:t> </a:t>
            </a:r>
            <a:r>
              <a:rPr b="1"/>
              <a:t>技術：</a:t>
            </a:r>
            <a:r>
              <a:rPr/>
              <a:t> Node.js、Express、MongoDB 同 JavaScript </a:t>
            </a:r>
            <a:r>
              <a:rPr b="1"/>
              <a:t>每人報告時間：</a:t>
            </a:r>
            <a:r>
              <a:rPr/>
              <a:t> 5 分鐘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第 2 頁：隊長 — 系統用途</a:t>
            </a:r>
          </a:p>
          <a:p>
            <a:pPr lvl="0" indent="0" marL="0">
              <a:buNone/>
            </a:pPr>
            <a:r>
              <a:rPr b="1"/>
              <a:t>Smart Book System</a:t>
            </a:r>
            <a:r>
              <a:rPr/>
              <a:t> 是一個網上應用程式，協助圖書館管理藏書同會員。</a:t>
            </a:r>
          </a:p>
          <a:p>
            <a:pPr lvl="0" indent="0" marL="0">
              <a:buNone/>
            </a:pPr>
            <a:r>
              <a:rPr b="1"/>
              <a:t>使用者可以做到：</a:t>
            </a:r>
            <a:r>
              <a:rPr/>
              <a:t> - 瀏覽書庫並即時搜尋書名或作者 - 開設帳號並安全登入 - 儲存有興趣的書籍到願望清單 - 借閱書籍並稍後歸還 - 直接在瀏覽器內閱讀已借閱的書籍 - 以管理員身份全面管理整個系統</a:t>
            </a:r>
          </a:p>
          <a:p>
            <a:pPr lvl="0" indent="0" marL="0">
              <a:buNone/>
            </a:pPr>
            <a:r>
              <a:rPr b="1"/>
              <a:t>系統價值：</a:t>
            </a:r>
            <a:r>
              <a:rPr/>
              <a:t> 將傳統紙筆記錄轉化為現代化的數碼工作流程，24 小時內都可以使用。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第 3 頁：隊長 — 系統架構</a:t>
            </a:r>
          </a:p>
          <a:p>
            <a:pPr lvl="0" indent="0" marL="0">
              <a:buNone/>
            </a:pPr>
            <a:r>
              <a:rPr b="1"/>
              <a:t>前端（使用者看到的部份）：</a:t>
            </a:r>
            <a:r>
              <a:rPr/>
              <a:t> - 用 HTML、CSS 同 JavaScript 製作的簡單網頁 - 無需複雜框架，介面簡潔且响应式 - 頁面包括書庫畫廊、登入頁、會員中心、管理員控制台和閱讀器</a:t>
            </a:r>
          </a:p>
          <a:p>
            <a:pPr lvl="0" indent="0" marL="0">
              <a:buNone/>
            </a:pPr>
            <a:r>
              <a:rPr b="1"/>
              <a:t>後端（運作邏輯的部份）：</a:t>
            </a:r>
            <a:r>
              <a:rPr/>
              <a:t> - Node.js 同 Express 處理瀏覽器傳來的請求 - MongoDB 儲存所有資料：用戶、書籍同借閱記錄 - 密碼會在儲存前加密 - 安全 Token 系統讓使用者保持登入狀態</a:t>
            </a:r>
          </a:p>
          <a:p>
            <a:pPr lvl="0" indent="0" marL="0">
              <a:buNone/>
            </a:pPr>
            <a:r>
              <a:rPr b="1"/>
              <a:t>團隊分工：</a:t>
            </a:r>
            <a:r>
              <a:rPr/>
              <a:t> 隊長負責設定項目結構、數據庫連接、安全規則同部署流程。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第 4 頁：隊長 + 成員 1 — 登入與用戶帳號</a:t>
            </a:r>
          </a:p>
          <a:p>
            <a:pPr lvl="0" indent="0" marL="0">
              <a:buNone/>
            </a:pPr>
            <a:r>
              <a:rPr b="1"/>
              <a:t>頁面：</a:t>
            </a:r>
            <a:r>
              <a:rPr/>
              <a:t> </a:t>
            </a:r>
            <a:r>
              <a:rPr>
                <a:latin typeface="Courier"/>
              </a:rPr>
              <a:t>public/login.html</a:t>
            </a:r>
            <a:r>
              <a:rPr/>
              <a:t> - 單一頁面包含兩個選項：登入同註冊 - 使用者輸入姓名、電郵同密碼 - 系統用安全 Token 記住登入狀態 - 登入後根據角色自動導向合適的頁面</a:t>
            </a:r>
          </a:p>
          <a:p>
            <a:pPr lvl="0" indent="0" marL="0">
              <a:buNone/>
            </a:pPr>
            <a:r>
              <a:rPr b="1"/>
              <a:t>後端邏輯：</a:t>
            </a:r>
            <a:r>
              <a:rPr/>
              <a:t> </a:t>
            </a:r>
            <a:r>
              <a:rPr>
                <a:latin typeface="Courier"/>
              </a:rPr>
              <a:t>controllers/authController.js</a:t>
            </a:r>
            <a:r>
              <a:rPr/>
              <a:t> - 處理新用戶註冊 - 驗證電郵同密碼 - 返回安全 Token 讓使用者保持登入</a:t>
            </a:r>
          </a:p>
          <a:p>
            <a:pPr lvl="0" indent="0" marL="0">
              <a:buNone/>
            </a:pPr>
            <a:r>
              <a:rPr b="1"/>
              <a:t>數據庫：</a:t>
            </a:r>
            <a:r>
              <a:rPr/>
              <a:t> </a:t>
            </a:r>
            <a:r>
              <a:rPr>
                <a:latin typeface="Courier"/>
              </a:rPr>
              <a:t>models/User.js</a:t>
            </a:r>
            <a:r>
              <a:rPr/>
              <a:t> - 儲存每位使用者的姓名、電郵、加密密碼同角色 - 密碼永遠不會以明文儲存 - 角色控制每位使用者可以看見同操作的內容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第 5 頁：隊長 + 成員 4 — 管理員控制台與用戶管理</a:t>
            </a:r>
          </a:p>
          <a:p>
            <a:pPr lvl="0" indent="0" marL="0">
              <a:buNone/>
            </a:pPr>
            <a:r>
              <a:rPr b="1"/>
              <a:t>頁面：</a:t>
            </a:r>
            <a:r>
              <a:rPr/>
              <a:t> </a:t>
            </a:r>
            <a:r>
              <a:rPr>
                <a:latin typeface="Courier"/>
              </a:rPr>
              <a:t>public/admin.html</a:t>
            </a:r>
            <a:r>
              <a:rPr/>
              <a:t> - 管理員的統一管理介面 - 書籍管理表格，可以新增、編輯或刪除書籍 - 用戶管理表格，可以建立或移除會員帳號 - 借閱記錄表格，顯示整個图书馆的所有活動</a:t>
            </a:r>
          </a:p>
          <a:p>
            <a:pPr lvl="0" indent="0" marL="0">
              <a:buNone/>
            </a:pPr>
            <a:r>
              <a:rPr b="1"/>
              <a:t>後端邏輯：</a:t>
            </a:r>
            <a:r>
              <a:rPr/>
              <a:t> </a:t>
            </a:r>
            <a:r>
              <a:rPr>
                <a:latin typeface="Courier"/>
              </a:rPr>
              <a:t>controllers/userController.js</a:t>
            </a:r>
            <a:r>
              <a:rPr/>
              <a:t> 同 </a:t>
            </a:r>
            <a:r>
              <a:rPr>
                <a:latin typeface="Courier"/>
              </a:rPr>
              <a:t>controllers/bookController.js</a:t>
            </a:r>
            <a:r>
              <a:rPr/>
              <a:t> - 列出所有註冊用戶 - 以正確角色建立新用戶帳號 - 移除用戶並清理相關歷史記錄 - 管理書籍庫存並進行驗證</a:t>
            </a:r>
          </a:p>
          <a:p>
            <a:pPr lvl="0" indent="0" marL="0">
              <a:buNone/>
            </a:pPr>
            <a:r>
              <a:rPr b="1"/>
              <a:t>數據庫：</a:t>
            </a:r>
            <a:r>
              <a:rPr/>
              <a:t> </a:t>
            </a:r>
            <a:r>
              <a:rPr>
                <a:latin typeface="Courier"/>
              </a:rPr>
              <a:t>models/User.js</a:t>
            </a:r>
            <a:r>
              <a:rPr/>
              <a:t> 同 </a:t>
            </a:r>
            <a:r>
              <a:rPr>
                <a:latin typeface="Courier"/>
              </a:rPr>
              <a:t>models/Book.js</a:t>
            </a:r>
            <a:r>
              <a:rPr/>
              <a:t> - 用戶擁有角色欄位以控制管理員權限 - 書籍擁有唯一識別碼同庫存追蹤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第 6 頁：隊長 + 成員 5 — 書庫畫廊與首頁</a:t>
            </a:r>
          </a:p>
          <a:p>
            <a:pPr lvl="0" indent="0" marL="0">
              <a:buNone/>
            </a:pPr>
            <a:r>
              <a:rPr b="1"/>
              <a:t>頁面：</a:t>
            </a:r>
            <a:r>
              <a:rPr/>
              <a:t> </a:t>
            </a:r>
            <a:r>
              <a:rPr>
                <a:latin typeface="Courier"/>
              </a:rPr>
              <a:t>public/index.html</a:t>
            </a:r>
            <a:r>
              <a:rPr/>
              <a:t> - 使用者進入網站後看到的主要頁面 - 以卡片形式整齊展示所有可供借閱的書籍 - 頂部設有搜尋欄，輸入關鍵字即時過濾 - 每本書顯示書名、作者同庫存狀態 - 管理員可以在此頁面直接新增書籍</a:t>
            </a:r>
          </a:p>
          <a:p>
            <a:pPr lvl="0" indent="0" marL="0">
              <a:buNone/>
            </a:pPr>
            <a:r>
              <a:rPr b="1"/>
              <a:t>後端邏輯：</a:t>
            </a:r>
            <a:r>
              <a:rPr/>
              <a:t> </a:t>
            </a:r>
            <a:r>
              <a:rPr>
                <a:latin typeface="Courier"/>
              </a:rPr>
              <a:t>controllers/bookController.js</a:t>
            </a:r>
            <a:r>
              <a:rPr/>
              <a:t> - 回傳完整書籍列表 - 根據書名或作者進行搜尋 - 提供書籍詳情同閱讀內容</a:t>
            </a:r>
          </a:p>
          <a:p>
            <a:pPr lvl="0" indent="0" marL="0">
              <a:buNone/>
            </a:pPr>
            <a:r>
              <a:rPr b="1"/>
              <a:t>數據庫：</a:t>
            </a:r>
            <a:r>
              <a:rPr/>
              <a:t> </a:t>
            </a:r>
            <a:r>
              <a:rPr>
                <a:latin typeface="Courier"/>
              </a:rPr>
              <a:t>models/Book.js</a:t>
            </a:r>
            <a:r>
              <a:rPr/>
              <a:t> - 儲存書名、作者、唯一編號、總數量同可用數量 - 記錄每本書的加入同更新時間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第 7 頁：隊長 — 安全設定與訪問控制</a:t>
            </a:r>
          </a:p>
          <a:p>
            <a:pPr lvl="0" indent="0" marL="0">
              <a:buNone/>
            </a:pPr>
            <a:r>
              <a:rPr b="1"/>
              <a:t>系統如何保障安全：</a:t>
            </a:r>
            <a:r>
              <a:rPr/>
              <a:t> - 所有敏感頁面都需要有效的登入 Token - 只有管理員可以新增、編輯或刪除書籍同用戶 - 密碼經過加密，永远不会在回應中洩露 - 每個請求都會在接觸敏感資料前接受檢查</a:t>
            </a:r>
          </a:p>
          <a:p>
            <a:pPr lvl="0" indent="0" marL="0">
              <a:buNone/>
            </a:pPr>
            <a:r>
              <a:rPr b="1"/>
              <a:t>使用者角色：</a:t>
            </a:r>
            <a:r>
              <a:rPr/>
              <a:t> - 一般會員可以瀏覽、借閱同歸還書籍 - 管理員擁有完整權限管理整個图书馆 - 系統會自動根據角色將使用者導向正確的頁面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第 8 頁：隊長 — 錯誤處理與 API 結構</a:t>
            </a:r>
          </a:p>
          <a:p>
            <a:pPr lvl="0" indent="0" marL="0">
              <a:buNone/>
            </a:pPr>
            <a:r>
              <a:rPr b="1"/>
              <a:t>使用者體驗重點：</a:t>
            </a:r>
            <a:r>
              <a:rPr/>
              <a:t> - 發生問題時，系統會顯示清楚訊息而不是當機 - 表單輸入在儲存前會進行檢查 - 重複帳號或書籍編號會被拒絕並提示原因</a:t>
            </a:r>
          </a:p>
          <a:p>
            <a:pPr lvl="0" indent="0" marL="0">
              <a:buNone/>
            </a:pPr>
            <a:r>
              <a:rPr b="1"/>
              <a:t>API 結構：</a:t>
            </a:r>
            <a:r>
              <a:rPr/>
              <a:t> - </a:t>
            </a:r>
            <a:r>
              <a:rPr>
                <a:latin typeface="Courier"/>
              </a:rPr>
              <a:t>/api/auth</a:t>
            </a:r>
            <a:r>
              <a:rPr/>
              <a:t> — 處理登入、註冊同個人資料 - </a:t>
            </a:r>
            <a:r>
              <a:rPr>
                <a:latin typeface="Courier"/>
              </a:rPr>
              <a:t>/api/books</a:t>
            </a:r>
            <a:r>
              <a:rPr/>
              <a:t> — 處理瀏覽、搜尋同管理書籍 - </a:t>
            </a:r>
            <a:r>
              <a:rPr>
                <a:latin typeface="Courier"/>
              </a:rPr>
              <a:t>/api/borrow</a:t>
            </a:r>
            <a:r>
              <a:rPr/>
              <a:t> — 處理願望清單、借閱申請同歸還 - </a:t>
            </a:r>
            <a:r>
              <a:rPr>
                <a:latin typeface="Courier"/>
              </a:rPr>
              <a:t>/api/users</a:t>
            </a:r>
            <a:r>
              <a:rPr/>
              <a:t> — 處理管理員的用戶管理 - </a:t>
            </a:r>
            <a:r>
              <a:rPr>
                <a:latin typeface="Courier"/>
              </a:rPr>
              <a:t>/api/health</a:t>
            </a:r>
            <a:r>
              <a:rPr/>
              <a:t> — 確認系統正常運作</a:t>
            </a:r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第 9 頁：隊長 — 數據庫與示範數據</a:t>
            </a:r>
          </a:p>
          <a:p>
            <a:pPr lvl="0" indent="0" marL="0">
              <a:buNone/>
            </a:pPr>
            <a:r>
              <a:rPr b="1"/>
              <a:t>數據庫設定：</a:t>
            </a:r>
            <a:r>
              <a:rPr/>
              <a:t> </a:t>
            </a:r>
            <a:r>
              <a:rPr>
                <a:latin typeface="Courier"/>
              </a:rPr>
              <a:t>config/db.js</a:t>
            </a:r>
            <a:r>
              <a:rPr/>
              <a:t> - 將應用程式連接至 MongoDB - 從安全配置文件讀取連接地址 - 記錄連接狀態以便除錯</a:t>
            </a:r>
          </a:p>
          <a:p>
            <a:pPr lvl="0" indent="0" marL="0">
              <a:buNone/>
            </a:pPr>
            <a:r>
              <a:rPr b="1"/>
              <a:t>示範數據：</a:t>
            </a:r>
            <a:r>
              <a:rPr/>
              <a:t> </a:t>
            </a:r>
            <a:r>
              <a:rPr>
                <a:latin typeface="Courier"/>
              </a:rPr>
              <a:t>seed.js</a:t>
            </a:r>
            <a:r>
              <a:rPr/>
              <a:t> - 預先載入 12 本示例書籍，包含書名、作者同閱讀內容 - 建立預設管理員帳號供測試使用 - 可以安全地多次執行而不會產生重複數據</a:t>
            </a:r>
          </a:p>
          <a:p>
            <a:pPr lvl="0" indent="0" marL="0">
              <a:buNone/>
            </a:pPr>
            <a:r>
              <a:rPr b="1"/>
              <a:t>數據模型：</a:t>
            </a:r>
            <a:r>
              <a:rPr/>
              <a:t> - 用戶模型儲存帳戶資訊 - 書籍模型儲存館藏同內容 - 借閱記錄模型追蹤每次借閱的生命週期</a:t>
            </a:r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第 10 頁：隊長 — 開發流程與部署</a:t>
            </a:r>
          </a:p>
          <a:p>
            <a:pPr lvl="0" indent="0" marL="0">
              <a:buNone/>
            </a:pPr>
            <a:r>
              <a:rPr b="1"/>
              <a:t>團隊協作方式：</a:t>
            </a:r>
            <a:r>
              <a:rPr/>
              <a:t> - 代碼存放於 GitHub，設有受保護的主線同開發分支 - 每項功能在獨立分支上開發，經審核後合併 - 團隊成員遵循標準的提交同推送流程</a:t>
            </a:r>
          </a:p>
          <a:p>
            <a:pPr lvl="0" indent="0" marL="0">
              <a:buNone/>
            </a:pPr>
            <a:r>
              <a:rPr b="1"/>
              <a:t>本地啟動步驟：</a:t>
            </a:r>
            <a:r>
              <a:rPr/>
              <a:t> 1. 複製倉庫並安裝所需套件 2. 設定環境配置文件 3. 執行數據庫種子腳本 4. 啟動伺服器並在瀏覽器中打開</a:t>
            </a:r>
          </a:p>
          <a:p>
            <a:pPr lvl="0" indent="0" marL="0">
              <a:buNone/>
            </a:pPr>
            <a:r>
              <a:rPr b="1"/>
              <a:t>上線部署：</a:t>
            </a:r>
            <a:r>
              <a:rPr/>
              <a:t> - Render 或 Vercel 等免費平台可以從 GitHub 自動部署 - 雲端 MongoDB 數據庫在線儲存資料 - 推送新代碼後系統會自動更新</a:t>
            </a:r>
          </a:p>
        </p:txBody>
      </p:sp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第 11 頁：成員 2 — 書庫與庫存模組</a:t>
            </a:r>
          </a:p>
          <a:p>
            <a:pPr lvl="0" indent="0" marL="0">
              <a:buNone/>
            </a:pPr>
            <a:r>
              <a:rPr b="1"/>
              <a:t>職責：</a:t>
            </a:r>
            <a:r>
              <a:rPr/>
              <a:t> 成員 2 負責書庫目錄、搜尋功能、庫存追蹤同管理員書籍工具。</a:t>
            </a:r>
          </a:p>
          <a:p>
            <a:pPr lvl="0" indent="0" marL="0">
              <a:buNone/>
            </a:pPr>
            <a:r>
              <a:rPr b="1"/>
              <a:t>已完成工作：</a:t>
            </a:r>
            <a:r>
              <a:rPr/>
              <a:t> - 首頁的書庫畫廊，供所有使用者瀏覽 - 即時搜尋功能，快速查找書籍 - 庫存狀態顯示，反映書籍可用性 - 管理員書籍管理介面 - 書籍閱讀頁面，供閱讀已借閱的書籍</a:t>
            </a:r>
          </a:p>
          <a:p>
            <a:pPr lvl="0" indent="0" marL="0">
              <a:buNone/>
            </a:pPr>
            <a:r>
              <a:rPr b="1"/>
              <a:t>貢獻價值：</a:t>
            </a:r>
            <a:r>
              <a:rPr/>
              <a:t> 這個模組是系統的核心，因為它處理了從建立書籍到閱讀的完整生命週期。</a:t>
            </a:r>
          </a:p>
        </p:txBody>
      </p:sp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第 12 頁：成員 2 — 書庫畫廊頁面</a:t>
            </a:r>
          </a:p>
          <a:p>
            <a:pPr lvl="0" indent="0" marL="0">
              <a:buNone/>
            </a:pPr>
            <a:r>
              <a:rPr b="1"/>
              <a:t>頁面：</a:t>
            </a:r>
            <a:r>
              <a:rPr/>
              <a:t> </a:t>
            </a:r>
            <a:r>
              <a:rPr>
                <a:latin typeface="Courier"/>
              </a:rPr>
              <a:t>public/index.html</a:t>
            </a:r>
            <a:r>
              <a:rPr/>
              <a:t> - 使用者進入網站後看到的首個頁面 - 以清晰卡片形式展示所有可供借閱的書籍 - 頂部搜尋欄讓使用者輸入關鍵字即時篩選 - 每本書顯示庫存狀態：有現貨、存量偏低或暫時缺貨 - 管理員可以看到新增或管理書籍的按鈕</a:t>
            </a:r>
          </a:p>
          <a:p>
            <a:pPr lvl="0" indent="0" marL="0">
              <a:buNone/>
            </a:pPr>
            <a:r>
              <a:rPr b="1"/>
              <a:t>運作流程：</a:t>
            </a:r>
            <a:r>
              <a:rPr/>
              <a:t> 1. 頁面開啟時自動從伺服器載入所有書籍 2. 使用者在搜尋框輸入文字，結果即時更新 3. 每本書的卡片一目了然地顯示重要資訊 4. 操作成功或失敗時會顯示提示通知</a:t>
            </a:r>
          </a:p>
        </p:txBody>
      </p:sp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第 13 頁：成員 2 — 書籍管理邏輯</a:t>
            </a:r>
          </a:p>
          <a:p>
            <a:pPr lvl="0" indent="0" marL="0">
              <a:buNone/>
            </a:pPr>
            <a:r>
              <a:rPr b="1"/>
              <a:t>後端邏輯：</a:t>
            </a:r>
            <a:r>
              <a:rPr/>
              <a:t> </a:t>
            </a:r>
            <a:r>
              <a:rPr>
                <a:latin typeface="Courier"/>
              </a:rPr>
              <a:t>controllers/bookController.js</a:t>
            </a:r>
            <a:r>
              <a:rPr/>
              <a:t> - 擷取完整書籍列表並展示在畫廊 - 處理搜尋請求，匹配書名同作者 - 建立新書籍並確保資料有效同編號唯一 - 安全地更新書籍詳情同庫存數量 - 移除不再需要的書籍 - 控制閱讀器對書籍內容的存取權限</a:t>
            </a:r>
          </a:p>
          <a:p>
            <a:pPr lvl="0" indent="0" marL="0">
              <a:buNone/>
            </a:pPr>
            <a:r>
              <a:rPr b="1"/>
              <a:t>庫存管理：</a:t>
            </a:r>
            <a:r>
              <a:rPr/>
              <a:t> - 新書的可用數量預設等於總數量 - 書籍被借閱或歸還時自動調整庫存 - 管理員可以在安全範圍內手動調整庫存</a:t>
            </a:r>
          </a:p>
        </p:txBody>
      </p:sp>
    </p:spTree>
  </p:cSld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第 14 頁：成員 2 — 書籍數據結構</a:t>
            </a:r>
          </a:p>
          <a:p>
            <a:pPr lvl="0" indent="0" marL="0">
              <a:buNone/>
            </a:pPr>
            <a:r>
              <a:rPr b="1"/>
              <a:t>數據庫：</a:t>
            </a:r>
            <a:r>
              <a:rPr/>
              <a:t> </a:t>
            </a:r>
            <a:r>
              <a:rPr>
                <a:latin typeface="Courier"/>
              </a:rPr>
              <a:t>models/Book.js</a:t>
            </a:r>
            <a:r>
              <a:rPr/>
              <a:t> - 每本書都有書名、作者同唯一識別碼 - 系統追蹤總數量同目前可用數量 - 書籍可以儲存長篇內容供閱讀器使用 - 每筆記錄包含建立同更新時間戳</a:t>
            </a:r>
          </a:p>
          <a:p>
            <a:pPr lvl="0" indent="0" marL="0">
              <a:buNone/>
            </a:pPr>
            <a:r>
              <a:rPr b="1"/>
              <a:t>數據規則：</a:t>
            </a:r>
            <a:r>
              <a:rPr/>
              <a:t> - 每本書必須有唯一識別碼，避免重複 - 可用數量永遠不能是負數 - 可用數量永遠不能超過總數量 - 內容長度受到限制以保持系統流暢</a:t>
            </a:r>
          </a:p>
        </p:txBody>
      </p:sp>
    </p:spTree>
  </p:cSld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第 15 頁：成員 2 — 搜尋、庫存狀態同閱讀器</a:t>
            </a:r>
          </a:p>
          <a:p>
            <a:pPr lvl="0" indent="0" marL="0">
              <a:buNone/>
            </a:pPr>
            <a:r>
              <a:rPr b="1"/>
              <a:t>搜尋體驗：</a:t>
            </a:r>
            <a:r>
              <a:rPr/>
              <a:t> - 使用者輸入幾個字就能看到匹配的書籍 - 搜尋範圍包括書名同作者 - 搜尋結果按最新加入的書籍排列</a:t>
            </a:r>
          </a:p>
          <a:p>
            <a:pPr lvl="0" indent="0" marL="0">
              <a:buNone/>
            </a:pPr>
            <a:r>
              <a:rPr b="1"/>
              <a:t>庫存指示：</a:t>
            </a:r>
            <a:r>
              <a:rPr/>
              <a:t> - 綠色標籤表示貨源充足 - 黃色標籤提醒存量偏低 - 紅色標籤表示暫時缺貨</a:t>
            </a:r>
          </a:p>
          <a:p>
            <a:pPr lvl="0" indent="0" marL="0">
              <a:buNone/>
            </a:pPr>
            <a:r>
              <a:rPr b="1"/>
              <a:t>書籍閱讀器：</a:t>
            </a:r>
            <a:r>
              <a:rPr/>
              <a:t> - 專用頁面以清晰格式展示書籍內容 - 只有已借閱該書的使用者才能進入閱讀 - 管理員可以閱覽任何書籍進行審核 - 返回按鈕帶領使用者回到帳戶dashboard</a:t>
            </a:r>
          </a:p>
        </p:txBody>
      </p:sp>
    </p:spTree>
  </p:cSld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第 16 頁：成員 3 — 借閱與願望清單模組</a:t>
            </a:r>
          </a:p>
          <a:p>
            <a:pPr lvl="0" indent="0" marL="0">
              <a:buNone/>
            </a:pPr>
            <a:r>
              <a:rPr b="1"/>
              <a:t>職責：</a:t>
            </a:r>
            <a:r>
              <a:rPr/>
              <a:t> 成員 3 負責借閱狀態機、願望清單、借閱流程同會員中心頁面。</a:t>
            </a:r>
          </a:p>
          <a:p>
            <a:pPr lvl="0" indent="0" marL="0">
              <a:buNone/>
            </a:pPr>
            <a:r>
              <a:rPr b="1"/>
              <a:t>已完成工作：</a:t>
            </a:r>
            <a:r>
              <a:rPr/>
              <a:t> - 願望清單功能，讓會員儲存有興趣的書籍 - 借閱申請系統，處理書籍借用請求 - 狀態驅動的工作流程，追蹤每次借閱從申請到歸還 - 個人儀表板，顯示會員資料、願望清單同借閱記錄 - 借閱同歸還時自動更新庫存數量</a:t>
            </a:r>
          </a:p>
          <a:p>
            <a:pPr lvl="0" indent="0" marL="0">
              <a:buNone/>
            </a:pPr>
            <a:r>
              <a:rPr b="1"/>
              <a:t>貢獻價值：</a:t>
            </a:r>
            <a:r>
              <a:rPr/>
              <a:t> 這個模組讓图书馆運作起來，將使用者同書籍連結起來，並管理完整的借閱生命週期。</a:t>
            </a:r>
          </a:p>
        </p:txBody>
      </p:sp>
    </p:spTree>
  </p:cSld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第 17 頁：成員 3 — 會員中心頁面</a:t>
            </a:r>
          </a:p>
          <a:p>
            <a:pPr lvl="0" indent="0" marL="0">
              <a:buNone/>
            </a:pPr>
            <a:r>
              <a:rPr b="1"/>
              <a:t>頁面：</a:t>
            </a:r>
            <a:r>
              <a:rPr/>
              <a:t> </a:t>
            </a:r>
            <a:r>
              <a:rPr>
                <a:latin typeface="Courier"/>
              </a:rPr>
              <a:t>public/member.html</a:t>
            </a:r>
            <a:r>
              <a:rPr/>
              <a:t> - 每位登入會員的個人儀表板 - 頂部顯示使用者個人資料 - 展示願望清單，列出有興趣的書籍同快速操作按鈕 - 列出所有當前同過去的借閱記錄，並以清晰狀態標籤顯示 - 包含按鈕可以申請借閱、確認同歸還書籍</a:t>
            </a:r>
          </a:p>
          <a:p>
            <a:pPr lvl="0" indent="0" marL="0">
              <a:buNone/>
            </a:pPr>
            <a:r>
              <a:rPr b="1"/>
              <a:t>運作流程：</a:t>
            </a:r>
            <a:r>
              <a:rPr/>
              <a:t> 1. 頁面載入使用者資料並顯示姓名同電郵 2. 從伺服器擷取願望清單同借閱歷史 3. 會員可以將書籍從願望清單轉為借閱申請 4. 會員可以一鍵歸還已借閱的書籍 5. 狀態標籤讓使用者清楚知道每本書的目前進度</a:t>
            </a:r>
          </a:p>
        </p:txBody>
      </p:sp>
    </p:spTree>
  </p:cSld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第 18 頁：成員 3 — 借閱同願望清單邏輯</a:t>
            </a:r>
          </a:p>
          <a:p>
            <a:pPr lvl="0" indent="0" marL="0">
              <a:buNone/>
            </a:pPr>
            <a:r>
              <a:rPr b="1"/>
              <a:t>後端邏輯：</a:t>
            </a:r>
            <a:r>
              <a:rPr/>
              <a:t> </a:t>
            </a:r>
            <a:r>
              <a:rPr>
                <a:latin typeface="Courier"/>
              </a:rPr>
              <a:t>controllers/borrowController.js</a:t>
            </a:r>
            <a:r>
              <a:rPr/>
              <a:t> - 當使用者點擊「有興趣」時將書籍加入願望清單 - 將願望清單項目轉換為借閱申請 - 審批或歸還書籍時同步更新庫存 - 擷取使用者的完整借閱歷史 - 讓管理員查看整個系統的所有借閱活動</a:t>
            </a:r>
          </a:p>
          <a:p>
            <a:pPr lvl="0" indent="0" marL="0">
              <a:buNone/>
            </a:pPr>
            <a:r>
              <a:rPr b="1"/>
              <a:t>借閱流程：</a:t>
            </a:r>
            <a:r>
              <a:rPr/>
              <a:t> - 使用者儲存有興趣的書籍時狀態為「interested」 - 提交借閱申請後狀態改為「pending」 - 申請獲批後狀態轉為「borrowed」 - 歸還後狀態最終變為「returned」 - 每次狀態轉換都會自動更新庫存數量</a:t>
            </a:r>
          </a:p>
        </p:txBody>
      </p:sp>
    </p:spTree>
  </p:cSld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第 19 頁：成員 3 — 借閱記錄數據結構</a:t>
            </a:r>
          </a:p>
          <a:p>
            <a:pPr lvl="0" indent="0" marL="0">
              <a:buNone/>
            </a:pPr>
            <a:r>
              <a:rPr b="1"/>
              <a:t>數據庫：</a:t>
            </a:r>
            <a:r>
              <a:rPr/>
              <a:t> </a:t>
            </a:r>
            <a:r>
              <a:rPr>
                <a:latin typeface="Courier"/>
              </a:rPr>
              <a:t>models/BorrowRecord.js</a:t>
            </a:r>
            <a:r>
              <a:rPr/>
              <a:t> - 每筆記錄將使用者與特定書籍連結 - 狀態欄位追蹤書籍在借閱過程中的位置 - 借出同歸還日期都會被記錄 - 系統防止同一使用者對同一本書產生重複的有效記錄</a:t>
            </a:r>
          </a:p>
          <a:p>
            <a:pPr lvl="0" indent="0" marL="0">
              <a:buNone/>
            </a:pPr>
            <a:r>
              <a:rPr b="1"/>
              <a:t>數據規則：</a:t>
            </a:r>
            <a:r>
              <a:rPr/>
              <a:t> - 使用者不能對同一本書同時有多個有效申請 - 狀態嚴格遵循路徑：有興趣、待審批、已借閱、已歸還 - 庫存永遠不會降到零以下 - 所有變更都會加上時間戳以便追蹤</a:t>
            </a:r>
          </a:p>
        </p:txBody>
      </p:sp>
    </p:spTree>
  </p:cSld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第 20 頁：成員 3 — 整合、測試同示範</a:t>
            </a:r>
          </a:p>
          <a:p>
            <a:pPr lvl="0" indent="0" marL="0">
              <a:buNone/>
            </a:pPr>
            <a:r>
              <a:rPr b="1"/>
              <a:t>各模組如何協同：</a:t>
            </a:r>
            <a:r>
              <a:rPr/>
              <a:t> - 借閱系統透過共享記錄將使用者同書籍連結 - 書庫畫廊中的庫存數量在借閱同歸還時自動更新 - 會員儀表板從多個來源整合資料到一個介面 - 前端透過簡單的 API 呼叫與後端通訊</a:t>
            </a:r>
          </a:p>
          <a:p>
            <a:pPr lvl="0" indent="0" marL="0">
              <a:buNone/>
            </a:pPr>
            <a:r>
              <a:rPr b="1"/>
              <a:t>測試重點：</a:t>
            </a:r>
            <a:r>
              <a:rPr/>
              <a:t> - 註冊新帳號並成功登入 - 瀏覽書籍、儲存 favourite、提交借閱申請 - 觀察借閱時庫存減少、歸還時庫存增加 - 確認閱讀器頁面只能進入已借閱的書籍 - 檢查管理員可以從控制台管理所有記錄</a:t>
            </a:r>
          </a:p>
          <a:p>
            <a:pPr lvl="0" indent="0" marL="0">
              <a:buNone/>
            </a:pPr>
            <a:r>
              <a:rPr b="1"/>
              <a:t>現場示範流程：</a:t>
            </a:r>
            <a:r>
              <a:rPr/>
              <a:t> 1. 打開首頁並瀏覽書庫畫廊 2. 以管理員身份登入管理館藏 3. 以會員身份登入測試願望清單同借閱流程 4. 借閱一本書並在閱讀器中打開 5. 歸還書籍並確認庫存正確更新</a:t>
            </a:r>
          </a:p>
        </p:txBody>
      </p:sp>
    </p:spTree>
  </p:cSld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i="1"/>
              <a:t>團隊 ERB-Team-A | Smart Book System 項目匯報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dcterms:created xsi:type="dcterms:W3CDTF">2026-08-15T01:18:35Z</dcterms:created>
  <dcterms:modified xsi:type="dcterms:W3CDTF">2026-08-15T01:18:35Z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